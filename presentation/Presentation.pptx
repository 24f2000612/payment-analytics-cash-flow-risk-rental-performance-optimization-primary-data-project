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2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38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28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296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8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9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65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9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43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3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4529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011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7542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17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49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1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A95F5-F14C-4ECE-BAA4-9FC1BEB2A597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0727A0-3356-4B80-B3B2-76312E6B9F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1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C2BD-82C4-0598-5E83-519572215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608" y="2945308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Payment Pattern Analysis and Rental Efficiency Tracking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dirty="0"/>
            </a:br>
            <a:r>
              <a:rPr lang="en-US" altLang="en-US" sz="2200" i="1" cap="none" dirty="0">
                <a:solidFill>
                  <a:schemeClr val="tx1"/>
                </a:solidFill>
                <a:latin typeface="Arial" panose="020B0604020202020204" pitchFamily="34" charset="0"/>
              </a:rPr>
              <a:t>A Business Data Management Capstone Project on Power Tech Project Associates</a:t>
            </a:r>
            <a:br>
              <a:rPr lang="en-US" altLang="en-US" sz="2800" cap="none" dirty="0">
                <a:latin typeface="Arial" panose="020B0604020202020204" pitchFamily="34" charset="0"/>
              </a:rPr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2B9B15-BE9B-74A8-0062-F8DEC914AD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3608" y="4995180"/>
            <a:ext cx="41093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Udghosh Rao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24f2000612@ds.study.iitm.ac.in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 No: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24f2000612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22.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Sept.2025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0065173-DDDD-6D0F-D178-DDE3588FC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06C6C-D9AA-B367-4209-5A0397216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032" y="1"/>
            <a:ext cx="1818968" cy="18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54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8FD7-55B3-90B9-1764-02D7641D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Organizational Background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A7A830-D908-2AFB-453C-FFFE92E2F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31314"/>
            <a:ext cx="790472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Tech Project Associates (B2B)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Neemrana, Rajasthan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Services: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Generator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5KVA to 1000KVA generators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Generator Rentals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daily/weekly rentals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industries &amp;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Repairs &amp; Maintenance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servicing, spare parts, and breakdown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Model: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High value, but delayed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Rentals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Small revenue share, underutilized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Repairs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Steady, low value, mostly on-time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87202-35F1-33BB-363D-474BA7E9F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240" y="3679376"/>
            <a:ext cx="2240760" cy="1927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ADFFEF-7FAD-DDB4-12ED-F2CD447D5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62" y="5739297"/>
            <a:ext cx="2077394" cy="11187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F61E3-30CE-5407-C75B-E4CD25A33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656" y="5606845"/>
            <a:ext cx="2780344" cy="12511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A25133-C9E1-0B56-3505-5712E26F3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655" y="2081849"/>
            <a:ext cx="2780345" cy="170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37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160F-891E-B683-E8C7-F4C195F3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Problem, 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2A4C-A873-1116-9FE3-A1698635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930401"/>
            <a:ext cx="9971000" cy="4317999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Problem (P):</a:t>
            </a:r>
            <a:endParaRPr lang="en-US" sz="2600" dirty="0"/>
          </a:p>
          <a:p>
            <a:pPr marL="0" indent="0">
              <a:buNone/>
            </a:pPr>
            <a:r>
              <a:rPr lang="en-US" dirty="0"/>
              <a:t>      Delayed </a:t>
            </a:r>
            <a:r>
              <a:rPr lang="en-US" b="1" dirty="0"/>
              <a:t>payments in generators sales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Underutilization of rental generators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Overdependence on a </a:t>
            </a:r>
            <a:r>
              <a:rPr lang="en-US" b="1" dirty="0"/>
              <a:t>few clients</a:t>
            </a:r>
            <a:r>
              <a:rPr lang="en-US" dirty="0"/>
              <a:t> → business risk</a:t>
            </a:r>
          </a:p>
          <a:p>
            <a:r>
              <a:rPr lang="en-US" sz="2600" b="1" dirty="0"/>
              <a:t>Data (D):</a:t>
            </a:r>
            <a:endParaRPr lang="en-US" sz="2600" dirty="0"/>
          </a:p>
          <a:p>
            <a:pPr marL="0" indent="0">
              <a:buNone/>
            </a:pPr>
            <a:r>
              <a:rPr lang="en-US" dirty="0"/>
              <a:t>       Period: </a:t>
            </a:r>
            <a:r>
              <a:rPr lang="en-US" b="1" dirty="0"/>
              <a:t>Jan–May 2025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50 transactions</a:t>
            </a:r>
            <a:r>
              <a:rPr lang="en-US" dirty="0"/>
              <a:t> across sales, rentals, repairs</a:t>
            </a:r>
          </a:p>
          <a:p>
            <a:pPr marL="0" indent="0">
              <a:buNone/>
            </a:pPr>
            <a:r>
              <a:rPr lang="en-US" dirty="0"/>
              <a:t>       Parameters: Entry Date, Customer, Service Type, Item, Amount, Payment Status, Payment Delay</a:t>
            </a:r>
          </a:p>
          <a:p>
            <a:r>
              <a:rPr lang="en-US" sz="2600" b="1" dirty="0"/>
              <a:t>Methodology (M):</a:t>
            </a:r>
            <a:endParaRPr lang="en-US" sz="2600" dirty="0"/>
          </a:p>
          <a:p>
            <a:pPr marL="0" indent="0">
              <a:buNone/>
            </a:pPr>
            <a:r>
              <a:rPr lang="en-US" dirty="0"/>
              <a:t>       Tool: </a:t>
            </a:r>
            <a:r>
              <a:rPr lang="en-US" b="1" dirty="0"/>
              <a:t>Excel</a:t>
            </a:r>
          </a:p>
          <a:p>
            <a:pPr marL="0" indent="0">
              <a:buNone/>
            </a:pPr>
            <a:r>
              <a:rPr lang="en-US" b="1" dirty="0"/>
              <a:t>       Descriptive Statistics</a:t>
            </a:r>
            <a:r>
              <a:rPr lang="en-US" dirty="0"/>
              <a:t>: Mean, Median, Std. Deviation, Correlation</a:t>
            </a:r>
          </a:p>
          <a:p>
            <a:pPr marL="0" indent="0">
              <a:buNone/>
            </a:pPr>
            <a:r>
              <a:rPr lang="en-US" b="1" dirty="0"/>
              <a:t>       Visualization</a:t>
            </a:r>
            <a:r>
              <a:rPr lang="en-US" dirty="0"/>
              <a:t>: Pie charts, Bar charts, Line charts</a:t>
            </a:r>
          </a:p>
          <a:p>
            <a:pPr marL="0" indent="0">
              <a:buNone/>
            </a:pPr>
            <a:r>
              <a:rPr lang="en-US" b="1" dirty="0"/>
              <a:t>       Cleaning</a:t>
            </a:r>
            <a:r>
              <a:rPr lang="en-US" dirty="0"/>
              <a:t>: Removed symbols, standardized dates, checked duplicates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79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D79E-CC8F-1DCC-A6C2-1CA78CC8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Metadata &amp;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64959-DA61-49E1-F12F-50831E6C8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Transactions:</a:t>
            </a:r>
            <a:r>
              <a:rPr lang="en-IN" dirty="0"/>
              <a:t> 50</a:t>
            </a:r>
          </a:p>
          <a:p>
            <a:r>
              <a:rPr lang="en-IN" b="1" dirty="0"/>
              <a:t>Revenue Range:</a:t>
            </a:r>
            <a:r>
              <a:rPr lang="en-IN" dirty="0"/>
              <a:t> ₹650 – ₹4,75,650</a:t>
            </a:r>
          </a:p>
          <a:p>
            <a:r>
              <a:rPr lang="en-IN" b="1" dirty="0"/>
              <a:t>Mean Transaction Value:</a:t>
            </a:r>
            <a:r>
              <a:rPr lang="en-IN" dirty="0"/>
              <a:t> ₹95,848</a:t>
            </a:r>
          </a:p>
          <a:p>
            <a:r>
              <a:rPr lang="en-IN" b="1" dirty="0"/>
              <a:t>Median:</a:t>
            </a:r>
            <a:r>
              <a:rPr lang="en-IN" dirty="0"/>
              <a:t> ₹10,805</a:t>
            </a:r>
          </a:p>
          <a:p>
            <a:r>
              <a:rPr lang="en-IN" b="1" dirty="0"/>
              <a:t>Standard Deviation:</a:t>
            </a:r>
            <a:r>
              <a:rPr lang="en-IN" dirty="0"/>
              <a:t> ₹1,39,866 → very high variability</a:t>
            </a:r>
          </a:p>
          <a:p>
            <a:r>
              <a:rPr lang="en-IN" b="1" dirty="0"/>
              <a:t>Avg. Payment Delay:</a:t>
            </a:r>
            <a:r>
              <a:rPr lang="en-IN" dirty="0"/>
              <a:t> 3.2 days (max = 15 days)</a:t>
            </a:r>
          </a:p>
          <a:p>
            <a:pPr marL="0" indent="0">
              <a:buNone/>
            </a:pPr>
            <a:r>
              <a:rPr lang="en-IN" dirty="0"/>
              <a:t>👉 </a:t>
            </a:r>
            <a:r>
              <a:rPr lang="en-IN" b="1" dirty="0"/>
              <a:t>Interpretation:</a:t>
            </a:r>
            <a:r>
              <a:rPr lang="en-IN" dirty="0"/>
              <a:t> Most revenue comes from a few high-value sales. Small repairs are frequent but contribute little.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71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34E1-3008-F799-1AFA-1A6E76C1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B6A57F-DC70-352C-FB30-695AC90EAB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283" y="1820565"/>
            <a:ext cx="101763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dates → standard format (DD-MM-YYYY)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for duplicates → none found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Verified outliers (high-value sales are genuine, not errors)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dataset: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 clean records ready for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29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BD78-7C01-A8D4-BFB2-7FB7CA57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2" y="131542"/>
            <a:ext cx="8596668" cy="1320800"/>
          </a:xfrm>
        </p:spPr>
        <p:txBody>
          <a:bodyPr/>
          <a:lstStyle/>
          <a:p>
            <a:r>
              <a:rPr lang="en-IN" dirty="0"/>
              <a:t>Payment Patterns (Graphs)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BB04C-EEAE-64E3-FA9C-F8C548230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22" y="1484672"/>
            <a:ext cx="8897840" cy="524178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Graph 1 – Payment Status Distribution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Paid: </a:t>
            </a:r>
            <a:r>
              <a:rPr lang="en-US" b="1" dirty="0"/>
              <a:t>60%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Pending: </a:t>
            </a:r>
            <a:r>
              <a:rPr lang="en-US" b="1" dirty="0"/>
              <a:t>40% (</a:t>
            </a:r>
            <a:r>
              <a:rPr lang="en-US" dirty="0"/>
              <a:t>₹18.3 Lakhs 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Graph 2 – Service Type Revenue Split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Sales = 96% of revenue</a:t>
            </a:r>
          </a:p>
          <a:p>
            <a:pPr marL="0" indent="0">
              <a:buNone/>
            </a:pPr>
            <a:r>
              <a:rPr lang="en-US" dirty="0"/>
              <a:t>     Rentals = 3%</a:t>
            </a:r>
          </a:p>
          <a:p>
            <a:pPr marL="0" indent="0">
              <a:buNone/>
            </a:pPr>
            <a:r>
              <a:rPr lang="en-US" dirty="0"/>
              <a:t>     Repairs = &lt;1%</a:t>
            </a:r>
          </a:p>
          <a:p>
            <a:r>
              <a:rPr lang="en-US" sz="1600" dirty="0"/>
              <a:t>📝 </a:t>
            </a:r>
            <a:r>
              <a:rPr lang="en-US" sz="1600" b="1" dirty="0"/>
              <a:t>Insights: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b="1" dirty="0"/>
              <a:t>High</a:t>
            </a:r>
            <a:r>
              <a:rPr lang="en-US" sz="1600" dirty="0"/>
              <a:t> </a:t>
            </a:r>
            <a:r>
              <a:rPr lang="en-US" sz="1600" b="1" dirty="0"/>
              <a:t>cash flow instability</a:t>
            </a:r>
            <a:r>
              <a:rPr lang="en-US" sz="1600" dirty="0"/>
              <a:t>: nearly 40% of business value stuck in receivables.</a:t>
            </a:r>
          </a:p>
          <a:p>
            <a:pPr marL="0" indent="0">
              <a:buNone/>
            </a:pPr>
            <a:r>
              <a:rPr lang="en-US" sz="1600" b="1" dirty="0"/>
              <a:t>        Sales dominate revenue</a:t>
            </a:r>
            <a:r>
              <a:rPr lang="en-US" sz="1600" dirty="0"/>
              <a:t>, but also bring the highest delays → </a:t>
            </a:r>
          </a:p>
          <a:p>
            <a:pPr marL="0" indent="0">
              <a:buNone/>
            </a:pPr>
            <a:r>
              <a:rPr lang="en-US" sz="1600" dirty="0"/>
              <a:t>       creates financial stress</a:t>
            </a:r>
          </a:p>
          <a:p>
            <a:pPr marL="0" indent="0">
              <a:buNone/>
            </a:pPr>
            <a:r>
              <a:rPr lang="en-US" sz="1600" b="1" dirty="0"/>
              <a:t>        Repairs, though small, are most reliable</a:t>
            </a:r>
            <a:r>
              <a:rPr lang="en-US" sz="1600" dirty="0"/>
              <a:t> (fastest collection).</a:t>
            </a:r>
          </a:p>
          <a:p>
            <a:r>
              <a:rPr lang="en-US" sz="1600" dirty="0"/>
              <a:t>💡 </a:t>
            </a:r>
            <a:r>
              <a:rPr lang="en-US" sz="1600" b="1" dirty="0"/>
              <a:t>Business Impact:</a:t>
            </a:r>
            <a:br>
              <a:rPr lang="en-US" sz="1600" dirty="0"/>
            </a:br>
            <a:r>
              <a:rPr lang="en-US" sz="1600" dirty="0"/>
              <a:t>Pending receivables above 30% are considered risky by SMEs.                                                        </a:t>
            </a:r>
          </a:p>
          <a:p>
            <a:r>
              <a:rPr lang="en-US" sz="1600" dirty="0"/>
              <a:t>Here, it’s </a:t>
            </a:r>
            <a:r>
              <a:rPr lang="en-US" sz="1600" b="1" dirty="0"/>
              <a:t>40%</a:t>
            </a:r>
            <a:r>
              <a:rPr lang="en-US" sz="1600" dirty="0"/>
              <a:t>, far exceeding safe limits.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7A07F-9426-8E9B-4800-D1BAD9B5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16" y="380340"/>
            <a:ext cx="4668271" cy="2851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9E6D8-6832-AC9C-D429-BB1D572D5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679" y="3232267"/>
            <a:ext cx="4437147" cy="298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5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E97E-602D-1524-8C58-B2CBE514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Performance (Graphs)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F57CA-C31D-2E8A-36CF-7DB6891FB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93" y="1533832"/>
            <a:ext cx="8128475" cy="5324168"/>
          </a:xfrm>
        </p:spPr>
        <p:txBody>
          <a:bodyPr>
            <a:normAutofit/>
          </a:bodyPr>
          <a:lstStyle/>
          <a:p>
            <a:r>
              <a:rPr lang="en-IN" dirty="0"/>
              <a:t>📊 </a:t>
            </a:r>
            <a:r>
              <a:rPr lang="en-IN" b="1" dirty="0"/>
              <a:t>Graph 3 – Customer-wise Paid vs Pending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Rahul Sharma (90%) &amp; Vikram Patel (90%) = reliable</a:t>
            </a:r>
          </a:p>
          <a:p>
            <a:pPr marL="0" indent="0">
              <a:buNone/>
            </a:pPr>
            <a:r>
              <a:rPr lang="en-IN" dirty="0"/>
              <a:t>      Anita Singh (20%) &amp; Sunita Reddy (40%) = risky</a:t>
            </a:r>
          </a:p>
          <a:p>
            <a:pPr marL="0" indent="0">
              <a:buNone/>
            </a:pPr>
            <a:r>
              <a:rPr lang="en-IN" dirty="0"/>
              <a:t>      Amit Kumar = medium risk (60%)</a:t>
            </a:r>
          </a:p>
          <a:p>
            <a:r>
              <a:rPr lang="en-IN" dirty="0"/>
              <a:t>📊 </a:t>
            </a:r>
            <a:r>
              <a:rPr lang="en-IN" b="1" dirty="0"/>
              <a:t>Graph 4 – Transaction Value Distribution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Repairs (₹650–₹3,500) = nearly 100% cleared immediately.</a:t>
            </a:r>
          </a:p>
          <a:p>
            <a:pPr marL="0" indent="0">
              <a:buNone/>
            </a:pPr>
            <a:r>
              <a:rPr lang="en-IN" dirty="0"/>
              <a:t>       High-value sales (&gt;₹2 lakhs) = most stuck pending.</a:t>
            </a:r>
          </a:p>
          <a:p>
            <a:r>
              <a:rPr lang="en-IN" dirty="0"/>
              <a:t>📝 </a:t>
            </a:r>
            <a:r>
              <a:rPr lang="en-IN" b="1" dirty="0"/>
              <a:t>Insights: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    Customer concentration:</a:t>
            </a:r>
            <a:r>
              <a:rPr lang="en-IN" dirty="0"/>
              <a:t> only 5 clients = high vulnerability.</a:t>
            </a:r>
          </a:p>
          <a:p>
            <a:pPr marL="0" indent="0">
              <a:buNone/>
            </a:pPr>
            <a:r>
              <a:rPr lang="en-IN" b="1" dirty="0"/>
              <a:t>     Two clients (Sunita &amp; Anita)</a:t>
            </a:r>
            <a:r>
              <a:rPr lang="en-IN" dirty="0"/>
              <a:t> alone cause 60% of pending dues.</a:t>
            </a:r>
          </a:p>
          <a:p>
            <a:pPr marL="0" indent="0">
              <a:buNone/>
            </a:pPr>
            <a:r>
              <a:rPr lang="en-IN" b="1" dirty="0"/>
              <a:t>     Risk categories:</a:t>
            </a:r>
            <a:r>
              <a:rPr lang="en-IN" dirty="0"/>
              <a:t> Low, Medium, High, Very High → credit limits needed.</a:t>
            </a:r>
          </a:p>
          <a:p>
            <a:r>
              <a:rPr lang="en-IN" dirty="0"/>
              <a:t>💡 </a:t>
            </a:r>
            <a:r>
              <a:rPr lang="en-IN" b="1" dirty="0"/>
              <a:t>Business Impact:</a:t>
            </a:r>
            <a:br>
              <a:rPr lang="en-IN" dirty="0"/>
            </a:br>
            <a:r>
              <a:rPr lang="en-IN" dirty="0"/>
              <a:t>One default can wipe out nearly 25–30% of company’s total cash inflow.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D7DEF-0A1E-6E6B-B422-E0F07D24C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03" y="856996"/>
            <a:ext cx="4339788" cy="2963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CE9303-DACC-2FA2-2F7E-1A41CE7A7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631" y="3945655"/>
            <a:ext cx="4257369" cy="27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12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F946-8C78-9403-0CA3-B866D570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Slide Title: Monthly Revenue Trend (Jan–May 2025)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B083-1FF0-AD70-8C1C-735F9486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Graph:</a:t>
            </a:r>
            <a:r>
              <a:rPr lang="en-US" dirty="0"/>
              <a:t> Line chart showing revenue per month</a:t>
            </a:r>
          </a:p>
          <a:p>
            <a:r>
              <a:rPr lang="en-US" b="1" dirty="0"/>
              <a:t>Key Points (write on slide):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Revenue peaked in </a:t>
            </a:r>
            <a:r>
              <a:rPr lang="en-US" b="1" dirty="0"/>
              <a:t>Feb (₹15.6 lakhs)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Lowest revenue in </a:t>
            </a:r>
            <a:r>
              <a:rPr lang="en-US" b="1" dirty="0"/>
              <a:t>April (₹4.4 lakhs)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May recovered with </a:t>
            </a:r>
            <a:r>
              <a:rPr lang="en-US" b="1" dirty="0"/>
              <a:t>₹10.6 lakhs</a:t>
            </a:r>
            <a:endParaRPr lang="en-US" dirty="0"/>
          </a:p>
          <a:p>
            <a:r>
              <a:rPr lang="en-US" dirty="0"/>
              <a:t>Clear </a:t>
            </a:r>
            <a:r>
              <a:rPr lang="en-US" b="1" dirty="0"/>
              <a:t>fluctuation in sales demand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👉 </a:t>
            </a:r>
            <a:r>
              <a:rPr lang="en-US" i="1" dirty="0"/>
              <a:t>Insight: Seasonal/irregular demand creates unstable cash flow; </a:t>
            </a:r>
          </a:p>
          <a:p>
            <a:pPr marL="0" indent="0">
              <a:buNone/>
            </a:pPr>
            <a:r>
              <a:rPr lang="en-US" i="1" dirty="0"/>
              <a:t>    April dip shows risk of dependency on a few deals.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4C098-6117-9439-91A0-9C7B4AD97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8" y="1469287"/>
            <a:ext cx="5407742" cy="31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0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4E20-71E6-7D0A-0169-623E02C5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62634-E694-17E0-25F2-50ED2A342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52" y="1465007"/>
            <a:ext cx="10482279" cy="52897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🔑 </a:t>
            </a:r>
            <a:r>
              <a:rPr lang="en-US" b="1" dirty="0"/>
              <a:t>Key Insights: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40% of revenue pending → unstable cash flow.</a:t>
            </a:r>
          </a:p>
          <a:p>
            <a:pPr marL="0" indent="0">
              <a:buNone/>
            </a:pPr>
            <a:r>
              <a:rPr lang="en-US" dirty="0"/>
              <a:t>     High dependency on 2 risky clients.</a:t>
            </a:r>
          </a:p>
          <a:p>
            <a:pPr marL="0" indent="0">
              <a:buNone/>
            </a:pPr>
            <a:r>
              <a:rPr lang="en-US" dirty="0"/>
              <a:t>     Rental fleet severely underutilized.</a:t>
            </a:r>
          </a:p>
          <a:p>
            <a:r>
              <a:rPr lang="en-US" dirty="0"/>
              <a:t>📌 </a:t>
            </a:r>
            <a:r>
              <a:rPr lang="en-US" b="1" dirty="0"/>
              <a:t>Recommendations:</a:t>
            </a:r>
            <a:endParaRPr lang="en-US" dirty="0"/>
          </a:p>
          <a:p>
            <a:r>
              <a:rPr lang="en-US" b="1" dirty="0"/>
              <a:t>Payment Policy:</a:t>
            </a:r>
            <a:r>
              <a:rPr lang="en-US" dirty="0"/>
              <a:t> Tiered advance collection:</a:t>
            </a:r>
          </a:p>
          <a:p>
            <a:pPr marL="457200" lvl="1" indent="0">
              <a:buNone/>
            </a:pPr>
            <a:r>
              <a:rPr lang="en-US" dirty="0"/>
              <a:t> ₹3 lakhs → 60% advance</a:t>
            </a:r>
          </a:p>
          <a:p>
            <a:pPr marL="457200" lvl="1" indent="0">
              <a:buNone/>
            </a:pPr>
            <a:r>
              <a:rPr lang="en-US" dirty="0"/>
              <a:t> ₹1–3 lakhs → 25–40% advance</a:t>
            </a:r>
          </a:p>
          <a:p>
            <a:pPr marL="457200" lvl="1" indent="0">
              <a:buNone/>
            </a:pPr>
            <a:r>
              <a:rPr lang="en-US" dirty="0"/>
              <a:t> &lt;₹1 lakh → normal terms.</a:t>
            </a:r>
          </a:p>
          <a:p>
            <a:r>
              <a:rPr lang="en-US" b="1" dirty="0"/>
              <a:t>Client Diversification:</a:t>
            </a:r>
            <a:r>
              <a:rPr lang="en-US" dirty="0"/>
              <a:t> Target new industries (factories, construction, events). Aim for </a:t>
            </a:r>
            <a:r>
              <a:rPr lang="en-US" b="1" dirty="0"/>
              <a:t>10 new clients in 12 months</a:t>
            </a:r>
            <a:r>
              <a:rPr lang="en-US" dirty="0"/>
              <a:t>.</a:t>
            </a:r>
          </a:p>
          <a:p>
            <a:r>
              <a:rPr lang="en-US" b="1" dirty="0"/>
              <a:t>Rental Boost: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Launch </a:t>
            </a:r>
            <a:r>
              <a:rPr lang="en-US" i="1" dirty="0"/>
              <a:t>monthly rental packages</a:t>
            </a:r>
            <a:r>
              <a:rPr lang="en-US" dirty="0"/>
              <a:t> with discounts.</a:t>
            </a:r>
          </a:p>
          <a:p>
            <a:pPr marL="457200" lvl="1" indent="0">
              <a:buNone/>
            </a:pPr>
            <a:r>
              <a:rPr lang="en-US" dirty="0"/>
              <a:t>Loyalty program → free day after 10 rentals.</a:t>
            </a:r>
          </a:p>
          <a:p>
            <a:pPr marL="457200" lvl="1" indent="0">
              <a:buNone/>
            </a:pPr>
            <a:r>
              <a:rPr lang="en-US" dirty="0"/>
              <a:t>Aggressive promotion to industrial &amp; event markets.</a:t>
            </a:r>
          </a:p>
          <a:p>
            <a:r>
              <a:rPr lang="en-US" b="1" dirty="0"/>
              <a:t>Monitoring:</a:t>
            </a:r>
            <a:r>
              <a:rPr lang="en-US" dirty="0"/>
              <a:t> Track </a:t>
            </a:r>
            <a:r>
              <a:rPr lang="en-US" b="1" dirty="0"/>
              <a:t>DSO (Days Sales Outstanding)</a:t>
            </a:r>
            <a:r>
              <a:rPr lang="en-US" dirty="0"/>
              <a:t> every month to ensure collection improves from 3.2 days avg. to &lt;2 days.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56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1F06-C13D-1992-37E0-EB9FE34F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E0C06-BECF-A091-63EC-DD6273864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Total Revenue (Jan–May 2025):</a:t>
            </a:r>
            <a:r>
              <a:rPr lang="en-US" dirty="0"/>
              <a:t> ₹47.9 Lakhs</a:t>
            </a:r>
          </a:p>
          <a:p>
            <a:r>
              <a:rPr lang="en-US" b="1" dirty="0"/>
              <a:t>Pending Payments:</a:t>
            </a:r>
            <a:r>
              <a:rPr lang="en-US" dirty="0"/>
              <a:t> ₹18.3 Lakhs </a:t>
            </a:r>
          </a:p>
          <a:p>
            <a:r>
              <a:rPr lang="en-US" b="1" dirty="0"/>
              <a:t>Rental Share:</a:t>
            </a:r>
            <a:r>
              <a:rPr lang="en-US" dirty="0"/>
              <a:t> Only 3.4% → huge scope for growth</a:t>
            </a:r>
          </a:p>
          <a:p>
            <a:r>
              <a:rPr lang="en-US" b="1" dirty="0"/>
              <a:t>Final Message:</a:t>
            </a:r>
            <a:br>
              <a:rPr lang="en-US" dirty="0"/>
            </a:br>
            <a:r>
              <a:rPr lang="en-US" dirty="0"/>
              <a:t>By enforcing stricter payment policies, diversifying clients, and expanding rentals,</a:t>
            </a:r>
            <a:br>
              <a:rPr lang="en-US" dirty="0"/>
            </a:br>
            <a:r>
              <a:rPr lang="en-US" dirty="0"/>
              <a:t>Power Tech Project Associates can achieve </a:t>
            </a:r>
            <a:r>
              <a:rPr lang="en-US" b="1" dirty="0"/>
              <a:t>stable cash flow and long-term growth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793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56E4-5963-BF50-4BB9-7B91D63A1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0C9E-7D56-F63F-BF45-F5BB92EAC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dirty="0"/>
              <a:t>Contact: 24f2000612@ds.study.iitm.ac.in</a:t>
            </a:r>
            <a:br>
              <a:rPr lang="en-IN" sz="4000" dirty="0"/>
            </a:br>
            <a:r>
              <a:rPr lang="en-IN" sz="4000" b="1" dirty="0"/>
              <a:t>Udghosh Rao</a:t>
            </a:r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3832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946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Payment Pattern Analysis and Rental Efficiency Tracking   A Business Data Management Capstone Project on Power Tech Project Associates  </vt:lpstr>
      <vt:lpstr>Organizational Background</vt:lpstr>
      <vt:lpstr>Problem, Data &amp; Methodology</vt:lpstr>
      <vt:lpstr>Metadata &amp; Descriptive Statistics</vt:lpstr>
      <vt:lpstr>Data Cleaning Process</vt:lpstr>
      <vt:lpstr>Payment Patterns (Graphs)</vt:lpstr>
      <vt:lpstr>Customer Performance (Graphs)</vt:lpstr>
      <vt:lpstr>📊 Slide Title: Monthly Revenue Trend (Jan–May 2025)</vt:lpstr>
      <vt:lpstr>Insights &amp;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udghosh yadav</dc:creator>
  <cp:lastModifiedBy>udghosh yadav</cp:lastModifiedBy>
  <cp:revision>16</cp:revision>
  <dcterms:created xsi:type="dcterms:W3CDTF">2025-09-07T14:36:23Z</dcterms:created>
  <dcterms:modified xsi:type="dcterms:W3CDTF">2025-09-22T10:19:20Z</dcterms:modified>
</cp:coreProperties>
</file>